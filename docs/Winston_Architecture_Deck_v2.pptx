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13"/>
    <p:sldId id="271" r:id="rId14"/>
    <p:sldId id="272" r:id="rId15"/>
    <p:sldId id="273" r:id="rId16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0352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0352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035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0352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0352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0352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0352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3504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3504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3504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3504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3504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3504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6656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6656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6656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6656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6656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6656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9808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9808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9808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9808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9808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9808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9808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2960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2960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22960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960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96112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6112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96112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6112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6112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6112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6112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6112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6112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264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69264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9264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9264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9264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69264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69264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69264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9264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42416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42416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42416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42416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42416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2416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2416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42416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42416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155680" y="3657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55680" y="10972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155680" y="18288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155680" y="25603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155680" y="329184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155680" y="402336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155680" y="475488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155680" y="548640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155680" y="6217920"/>
            <a:ext cx="36576" cy="365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57200" y="1920240"/>
            <a:ext cx="6858000" cy="2743200"/>
          </a:xfrm>
          <a:prstGeom prst="rect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572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Winston Platform</a:t>
            </a:r>
            <a:endParaRPr lang="en-US" sz="5400" dirty="0"/>
          </a:p>
        </p:txBody>
      </p:sp>
      <p:sp>
        <p:nvSpPr>
          <p:cNvPr id="141" name="Text 139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 Estate Private Equity SaaS</a:t>
            </a:r>
            <a:endParaRPr lang="en-US" sz="2100" dirty="0"/>
          </a:p>
        </p:txBody>
      </p:sp>
      <p:sp>
        <p:nvSpPr>
          <p:cNvPr id="142" name="Shape 140"/>
          <p:cNvSpPr/>
          <p:nvPr/>
        </p:nvSpPr>
        <p:spPr>
          <a:xfrm>
            <a:off x="457200" y="3520440"/>
            <a:ext cx="54864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57200" y="3749040"/>
            <a:ext cx="1005840" cy="182880"/>
          </a:xfrm>
          <a:prstGeom prst="rect">
            <a:avLst/>
          </a:prstGeom>
          <a:solidFill>
            <a:srgbClr val="38BDF8">
              <a:alpha val="25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0292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FastAPI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691640" y="3749040"/>
            <a:ext cx="1005840" cy="182880"/>
          </a:xfrm>
          <a:prstGeom prst="rect">
            <a:avLst/>
          </a:prstGeom>
          <a:solidFill>
            <a:srgbClr val="FBBF24">
              <a:alpha val="2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73736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2926080" y="3749040"/>
            <a:ext cx="1005840" cy="182880"/>
          </a:xfrm>
          <a:prstGeom prst="rect">
            <a:avLst/>
          </a:prstGeom>
          <a:solidFill>
            <a:srgbClr val="34D399">
              <a:alpha val="25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97180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160520" y="3749040"/>
            <a:ext cx="1005840" cy="182880"/>
          </a:xfrm>
          <a:prstGeom prst="rect">
            <a:avLst/>
          </a:prstGeom>
          <a:solidFill>
            <a:srgbClr val="A78BFA">
              <a:alpha val="25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0624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Orchestrator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5394960" y="3749040"/>
            <a:ext cx="1005840" cy="182880"/>
          </a:xfrm>
          <a:prstGeom prst="rect">
            <a:avLst/>
          </a:prstGeom>
          <a:solidFill>
            <a:srgbClr val="FB7185">
              <a:alpha val="25000"/>
            </a:srgbClr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440680" y="3767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Railway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457200" y="4251960"/>
            <a:ext cx="1828800" cy="640080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30352" y="42793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repo-b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530352" y="4498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2468880" y="4251960"/>
            <a:ext cx="1828800" cy="64008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542032" y="42793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58" name="Text 156"/>
          <p:cNvSpPr/>
          <p:nvPr/>
        </p:nvSpPr>
        <p:spPr>
          <a:xfrm>
            <a:off x="2542032" y="4498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BOS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4480560" y="4251960"/>
            <a:ext cx="1828800" cy="64008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553712" y="42793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repo-c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4553712" y="4498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Lab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96012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4200" dirty="0"/>
          </a:p>
        </p:txBody>
      </p:sp>
      <p:sp>
        <p:nvSpPr>
          <p:cNvPr id="163" name="Text 161"/>
          <p:cNvSpPr/>
          <p:nvPr/>
        </p:nvSpPr>
        <p:spPr>
          <a:xfrm>
            <a:off x="960120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Groups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960120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65" name="Text 163"/>
          <p:cNvSpPr/>
          <p:nvPr/>
        </p:nvSpPr>
        <p:spPr>
          <a:xfrm>
            <a:off x="9601200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Repos</a:t>
            </a:r>
            <a:endParaRPr lang="en-US" sz="850" dirty="0"/>
          </a:p>
        </p:txBody>
      </p:sp>
      <p:sp>
        <p:nvSpPr>
          <p:cNvPr id="166" name="Text 164"/>
          <p:cNvSpPr/>
          <p:nvPr/>
        </p:nvSpPr>
        <p:spPr>
          <a:xfrm>
            <a:off x="9601200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67" name="Text 165"/>
          <p:cNvSpPr/>
          <p:nvPr/>
        </p:nvSpPr>
        <p:spPr>
          <a:xfrm>
            <a:off x="9601200" y="4681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9601200" y="5212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200" dirty="0"/>
          </a:p>
        </p:txBody>
      </p:sp>
      <p:sp>
        <p:nvSpPr>
          <p:cNvPr id="169" name="Text 167"/>
          <p:cNvSpPr/>
          <p:nvPr/>
        </p:nvSpPr>
        <p:spPr>
          <a:xfrm>
            <a:off x="9601200" y="5870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Chunks</a:t>
            </a:r>
            <a:endParaRPr lang="en-US" sz="850" dirty="0"/>
          </a:p>
        </p:txBody>
      </p:sp>
      <p:sp>
        <p:nvSpPr>
          <p:cNvPr id="170" name="Text 168"/>
          <p:cNvSpPr/>
          <p:nvPr/>
        </p:nvSpPr>
        <p:spPr>
          <a:xfrm>
            <a:off x="457200" y="6537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Three-service monorepo deployed on Railway + Supabase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749040" cy="5394960"/>
          </a:xfrm>
          <a:prstGeom prst="rect">
            <a:avLst/>
          </a:prstGeom>
          <a:solidFill>
            <a:srgbClr val="121929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749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repo-b · Next.js 14 / TypeScript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251960" y="914400"/>
            <a:ext cx="3749040" cy="5394960"/>
          </a:xfrm>
          <a:prstGeom prst="rect">
            <a:avLst/>
          </a:prstGeom>
          <a:solidFill>
            <a:srgbClr val="12192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914400"/>
            <a:ext cx="3749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(BOS)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252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FastAPI / Python 3.11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229600" y="914400"/>
            <a:ext cx="3749040" cy="5394960"/>
          </a:xfrm>
          <a:prstGeom prst="rect">
            <a:avLst/>
          </a:prstGeom>
          <a:solidFill>
            <a:srgbClr val="121929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914400"/>
            <a:ext cx="374904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66760" y="1252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External APIs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160020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00200"/>
            <a:ext cx="5029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Command Center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1883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Confirm → Execute AI shell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quick actions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69748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Fund Dashboard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 · Performance · Waterfall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Cockpit · Debt Summary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9476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Summary &amp; Reports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0782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capital accounts · Distributions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Quarter-close exports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" y="489204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89204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956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Scenarios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inputs · Stress tests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scenario modeling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60020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1600200"/>
            <a:ext cx="50292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 /api/ai/gateway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44568" y="1883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· Tool calling loop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completions (gpt-4o-mini)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389120" y="269748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2697480"/>
            <a:ext cx="50292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4568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Orchestrator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44568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tool groups · Rate limit · Audit trail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with actor attribution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389120" y="379476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3794760"/>
            <a:ext cx="50292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4568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API v1 / v2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44568" y="40782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· Deals · Assets · JVs · Metrics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Quarter-close · Waterfall · Scenarios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389120" y="489204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4892040"/>
            <a:ext cx="5029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44568" y="4956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 + Reports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4456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views for Winston demo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· Intelligence API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366760" y="160020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66760" y="1600200"/>
            <a:ext cx="50292" cy="9601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2220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22208" y="18836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rag_chunks (vector 1536-dim)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cosine index · Parent-child chunks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366760" y="269748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2697480"/>
            <a:ext cx="50292" cy="9601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22208" y="2980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 (IC memos, OAs)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 · Bucket: documents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366760" y="379476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66760" y="3794760"/>
            <a:ext cx="50292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22208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522208" y="40782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(chat completions)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(RAG vectors)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366760" y="4892040"/>
            <a:ext cx="3474720" cy="960120"/>
          </a:xfrm>
          <a:prstGeom prst="rect">
            <a:avLst/>
          </a:prstGeom>
          <a:solidFill>
            <a:srgbClr val="1A2540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66760" y="4892040"/>
            <a:ext cx="50292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22208" y="4956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Deployment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52220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deploys · Health checks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services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886200" y="207568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886200" y="317296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886200" y="427024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886200" y="53675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863840" y="207568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863840" y="317296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863840" y="427024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863840" y="53675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365760" y="6492240"/>
            <a:ext cx="128016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737360" y="6492240"/>
            <a:ext cx="128016" cy="12801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019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API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108960" y="6492240"/>
            <a:ext cx="128016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735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480560" y="6492240"/>
            <a:ext cx="128016" cy="12801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451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852160" y="6492240"/>
            <a:ext cx="128016" cy="12801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16752" y="6473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Infrastructure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AI Gateway · RAG Pipeline · MCP Tool Orchestration · Streaming SSE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194560" cy="1645920"/>
          </a:xfrm>
          <a:prstGeom prst="rect">
            <a:avLst/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1945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/ Confirm / Execute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Actions (asset-aware)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response pane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 history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5943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42316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SSE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017520" y="914400"/>
            <a:ext cx="3200400" cy="3200400"/>
          </a:xfrm>
          <a:prstGeom prst="rect">
            <a:avLst/>
          </a:prstGeom>
          <a:solidFill>
            <a:srgbClr val="1A2540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914400"/>
            <a:ext cx="32004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54680" y="1188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/api/ai/gateway/ask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463040"/>
            <a:ext cx="256032" cy="256032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4813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93008" y="14721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domain context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93008" y="1636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 system prompt + entity scope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54680" y="1965960"/>
            <a:ext cx="256032" cy="256032"/>
          </a:xfrm>
          <a:prstGeom prst="ellipse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9842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93008" y="1975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pre-fetch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21396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rag_chunks (top-K=5)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154680" y="2468880"/>
            <a:ext cx="256032" cy="256032"/>
          </a:xfrm>
          <a:prstGeom prst="ellipse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487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93008" y="2478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stream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93008" y="26426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streaming tool calls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56032" cy="256032"/>
          </a:xfrm>
          <a:prstGeom prst="ellipse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9900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93008" y="29809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dispatch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93008" y="31455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tool rounds · audit logged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154680" y="3474720"/>
            <a:ext cx="256032" cy="256032"/>
          </a:xfrm>
          <a:prstGeom prst="ellipse">
            <a:avLst/>
          </a:prstGeom>
          <a:solidFill>
            <a:srgbClr val="FB7185">
              <a:alpha val="7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4930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93008" y="34838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 emission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93008" y="36484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| tool_use | tool_result | done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217920" y="1371600"/>
            <a:ext cx="64008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ysDot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217920" y="11704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6400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217920" y="21305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vector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217920" y="3337560"/>
            <a:ext cx="6400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217920" y="31363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858000" y="960120"/>
            <a:ext cx="265176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0" y="960120"/>
            <a:ext cx="265176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10241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967728" y="1207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67728" y="1444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(chat + tool calls)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(1536-dim)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 Completions API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858000" y="2011680"/>
            <a:ext cx="265176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0" y="2011680"/>
            <a:ext cx="265176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2075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967728" y="2258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/ rag_chunks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67728" y="2496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cosine index (m=16)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chunking (400/800 tok)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business_id scoping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58000" y="3063240"/>
            <a:ext cx="265176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3063240"/>
            <a:ext cx="265176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31272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967728" y="3310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67728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re_model · rag · business · documents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work · metrics · report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· git · fe · api · db · repo · rate-limit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28600" y="4663440"/>
            <a:ext cx="11704320" cy="1188720"/>
          </a:xfrm>
          <a:prstGeom prst="rect">
            <a:avLst/>
          </a:prstGeom>
          <a:solidFill>
            <a:srgbClr val="12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CONFIGURATION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65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65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gateway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508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OPENAI_CHAT_MODEL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508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651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OAI_EMBEDDING_MODEL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2651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text-embed-3-small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794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AI_MAX_TOOL_ROUNDS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794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(tool-call cycles)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937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RAG_TOP_K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4937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(chunks returned)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080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RAG_CHUNK_TOKENS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080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(child size)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223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MCP_RATE_LIMIT_RPM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223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366760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MCP_API_TOKEN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366760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auth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9738360" y="4956048"/>
            <a:ext cx="2194560" cy="685800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84080" y="4983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AI_GATEWAY_ENABLED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784080" y="5184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when OPENAI_API_KEY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present in environment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→ Embedding → pgvector storage → Semantic retrieval for Winston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93268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  (DOCUMENT UPLOAD → VECTOR STORE)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60020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Memo · OA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7452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18872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documents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188720"/>
            <a:ext cx="160020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rag_indexer.py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clean text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4068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1188720"/>
            <a:ext cx="160020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Child: 400 tok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800 tok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2376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1188720"/>
            <a:ext cx="160020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-3-small (1536d)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06840" y="1737360"/>
            <a:ext cx="45720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ot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89720" y="118872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89720" y="118872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1261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Store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81160" y="1645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rag_chunks table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0040" y="2514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SCHEMA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743200"/>
            <a:ext cx="7498080" cy="868680"/>
          </a:xfrm>
          <a:prstGeom prst="rect">
            <a:avLst/>
          </a:prstGeom>
          <a:solidFill>
            <a:srgbClr val="121929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88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rag_chunks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(chunk_id UUID, document_id UUID, business_id UUID, entity_type TEXT, entity_id UUID,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VECTOR(1536), chunk_text TEXT, parent_chunk_id UUID,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chunk_index INT, section_heading TEXT, token_count INT,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INDEX: HNSW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(embedding cosine_ops, m=16, ef_construction=64) 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863840" y="2743200"/>
            <a:ext cx="4023360" cy="8686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73568" y="2971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pgvector extension is not enabled, system silently falls back to PostgreSQL tsvector full-text search. Check /api/ai/gateway/health for rag_available: true to confirm pgvector is active.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0040" y="3794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  (QUERY → AI CONTEXT)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023360"/>
            <a:ext cx="160020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Winston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8745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1031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103120" y="4023360"/>
            <a:ext cx="160020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Pre-fetch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945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rag.search MCP tool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direct call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7033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9319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931920" y="4023360"/>
            <a:ext cx="1600200" cy="411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233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-3-small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5321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7607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760720" y="402336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Top-K=5 children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609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5895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589520" y="4023360"/>
            <a:ext cx="1600200" cy="4114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Chunk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809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800-tok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for context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189720" y="4572000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418320" y="4023360"/>
            <a:ext cx="1600200" cy="109728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418320" y="4023360"/>
            <a:ext cx="16002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09760" y="4096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509760" y="4480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chunks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chunk_id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74320" y="5349240"/>
            <a:ext cx="11612880" cy="1188720"/>
          </a:xfrm>
          <a:prstGeom prst="rect">
            <a:avLst/>
          </a:prstGeom>
          <a:solidFill>
            <a:srgbClr val="121929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5394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CHUNKING STRATEGY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6576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5760" y="5577840"/>
            <a:ext cx="4572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chunks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7548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tokens · 50-token overlap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7548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search precision — smaller window = better semantic match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24612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46120" y="5577840"/>
            <a:ext cx="45720" cy="822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5584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chunks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35584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tokens · context-rich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35584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AI — larger context avoids truncated answers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12648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26480" y="5577840"/>
            <a:ext cx="45720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3620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23620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per chunk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23620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for citation traceability in Winston responses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9006840" y="5577840"/>
            <a:ext cx="2743200" cy="82296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006840" y="5577840"/>
            <a:ext cx="457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16568" y="5605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116568" y="5788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business_id scoped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9116568" y="5961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filter: fund | asset | investment | pds_project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Orchestration + Winston Command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· Rate limiting · Audit trail · Plan → Confirm → Execute UX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886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COMMAND CENTER FLOW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0" cy="530352"/>
          </a:xfrm>
          <a:prstGeom prst="line">
            <a:avLst/>
          </a:prstGeom>
          <a:noFill/>
          <a:ln w="19050">
            <a:solidFill>
              <a:srgbClr val="38BDF8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347472" y="1143000"/>
            <a:ext cx="566928" cy="566928"/>
          </a:xfrm>
          <a:prstGeom prst="ellipse">
            <a:avLst/>
          </a:prstGeom>
          <a:solidFill>
            <a:srgbClr val="38BDF8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1143000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143000"/>
            <a:ext cx="45720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4630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query or Quick Action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(asset-context aware)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2587752"/>
            <a:ext cx="0" cy="530352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347472" y="2130552"/>
            <a:ext cx="566928" cy="566928"/>
          </a:xfrm>
          <a:prstGeom prst="ellipse">
            <a:avLst/>
          </a:prstGeom>
          <a:solidFill>
            <a:srgbClr val="A78BFA">
              <a:alpha val="7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219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4128" y="2130552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130552"/>
            <a:ext cx="45720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4505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proposes an operation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structured parameters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8368" y="3575304"/>
            <a:ext cx="0" cy="530352"/>
          </a:xfrm>
          <a:prstGeom prst="line">
            <a:avLst/>
          </a:prstGeom>
          <a:noFill/>
          <a:ln w="19050">
            <a:solidFill>
              <a:srgbClr val="FBBF24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347472" y="3118104"/>
            <a:ext cx="566928" cy="566928"/>
          </a:xfrm>
          <a:prstGeom prst="ellipse">
            <a:avLst/>
          </a:prstGeom>
          <a:solidFill>
            <a:srgbClr val="FBBF24">
              <a:alpha val="7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095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24128" y="3118104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3118104"/>
            <a:ext cx="45720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43814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plan summary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approves or edits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4562856"/>
            <a:ext cx="0" cy="530352"/>
          </a:xfrm>
          <a:prstGeom prst="line">
            <a:avLst/>
          </a:prstGeom>
          <a:noFill/>
          <a:ln w="19050">
            <a:solidFill>
              <a:srgbClr val="34D399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347472" y="4105656"/>
            <a:ext cx="566928" cy="566928"/>
          </a:xfrm>
          <a:prstGeom prst="ellipse">
            <a:avLst/>
          </a:prstGeom>
          <a:solidFill>
            <a:srgbClr val="34D399">
              <a:alpha val="7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1970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24128" y="4105656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" y="4105656"/>
            <a:ext cx="45720" cy="8046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44256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dispatch + AI response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displayed in timeline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5093208"/>
            <a:ext cx="566928" cy="566928"/>
          </a:xfrm>
          <a:prstGeom prst="ellipse">
            <a:avLst/>
          </a:prstGeom>
          <a:solidFill>
            <a:srgbClr val="FB7185">
              <a:alpha val="75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51846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24128" y="5093208"/>
            <a:ext cx="3657600" cy="804672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" y="5093208"/>
            <a:ext cx="45720" cy="80467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5148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5413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execution audit-logged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actor + tool + result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0" y="8869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REGISTRY  (15 TOOL GROUPS)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120640" y="1115568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1115568"/>
            <a:ext cx="228600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1170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1208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rag.search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516368" y="1115568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16368" y="1115568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170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Models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078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re_model.run · re_model.list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912096" y="1115568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12096" y="1115568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03536" y="1170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003536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business.get · business.list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120640" y="1865376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71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865376"/>
            <a:ext cx="2286000" cy="3200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0" y="1920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212080" y="2121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document.upload · document.get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516368" y="1865376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16368" y="1865376"/>
            <a:ext cx="228600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07808" y="1920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607808" y="2121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execution.run · execution.list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912096" y="1865376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12096" y="1865376"/>
            <a:ext cx="228600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03536" y="19202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/ Tasks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003536" y="21214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work.create · work.update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120640" y="2615184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2615184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12080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12080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metrics.query · metrics.aggregate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516368" y="2615184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16368" y="2615184"/>
            <a:ext cx="2286000" cy="320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07808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607808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report.generate · report.list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9912096" y="2615184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12096" y="2615184"/>
            <a:ext cx="2286000" cy="320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03536" y="26700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Git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003536" y="28712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repo.read · git.status · git.diff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120640" y="3364992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0640" y="3364992"/>
            <a:ext cx="2286000" cy="320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0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212080" y="36210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fe.navigate · fe.screenshot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516368" y="3364992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16368" y="3364992"/>
            <a:ext cx="2286000" cy="320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07808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607808" y="36210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api.call · api.health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912096" y="3364992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718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12096" y="3364992"/>
            <a:ext cx="2286000" cy="3200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003536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0003536" y="36210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 · db.schema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120640" y="4114800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20640" y="4114800"/>
            <a:ext cx="2286000" cy="320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12080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/ Config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212080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env.get · env.set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516368" y="4114800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94A3B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516368" y="4114800"/>
            <a:ext cx="2286000" cy="320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07808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Admin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607808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bm.list_tools · bm.version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912096" y="4114800"/>
            <a:ext cx="2286000" cy="658368"/>
          </a:xfrm>
          <a:prstGeom prst="rect">
            <a:avLst/>
          </a:prstGeom>
          <a:solidFill>
            <a:srgbClr val="1A2540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12096" y="4114800"/>
            <a:ext cx="2286000" cy="320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003536" y="41696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0003536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MCP_RATE_LIMIT_RPM: 60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MCP_TOOL_TIMEOUT: 60s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120640" y="6263640"/>
            <a:ext cx="6858000" cy="457200"/>
          </a:xfrm>
          <a:prstGeom prst="rect">
            <a:avLst/>
          </a:prstGeom>
          <a:solidFill>
            <a:srgbClr val="121929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12080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Auth: 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623560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 MCP_API_TOKEN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565392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Audit: 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976872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audit-logged with actor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7918704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Rate limit: 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8330184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RPM  per actor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9272016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Write guard: 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9683496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ENABLE_MCP_WRITES flag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10625328" y="6291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Input cap: 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11036808" y="6291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KB max input/output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Topology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 · Supabase managed Postgres · Blue-green deploys · Manual DB migrations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132320" cy="4663440"/>
          </a:xfrm>
          <a:prstGeom prst="rect">
            <a:avLst/>
          </a:prstGeom>
          <a:solidFill>
            <a:srgbClr val="121929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1323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108960" cy="4023360"/>
          </a:xfrm>
          <a:prstGeom prst="rect">
            <a:avLst/>
          </a:prstGeom>
          <a:solidFill>
            <a:srgbClr val="1A25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31089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89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SERVICE  · REPO-B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React · Tailwind CSS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Server Components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227685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Command Center UI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Fund / Asset dashboards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27523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Summary · Models · Reports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9008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322783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FRONTEND_PORT (default 3001)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346557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npm run build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git push → Railway auto-build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0080" y="394106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HTTP 200 on /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94760" y="1325880"/>
            <a:ext cx="3383280" cy="402336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1325880"/>
            <a:ext cx="3383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389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  · BACKEND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3192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180136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Uvicorn · Psycopg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31920" y="203911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31920" y="2276856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(OpenAI streaming)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31920" y="251460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server (stdio + HTTP)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31920" y="2752344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API v1/v2 · Query Engine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31920" y="299008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indexer + semantic search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31920" y="322783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0" y="3465576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BACKEND_PORT (default 8000)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931920" y="370332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GET /health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931920" y="3941064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Docker → Railway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931920" y="417880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Migrations: make db:migrate (manual!)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680960" y="960120"/>
            <a:ext cx="4206240" cy="4663440"/>
          </a:xfrm>
          <a:prstGeom prst="rect">
            <a:avLst/>
          </a:prstGeom>
          <a:solidFill>
            <a:srgbClr val="121929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0" y="960120"/>
            <a:ext cx="420624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1024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(MANAGED)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863840" y="132588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1325880"/>
            <a:ext cx="45720" cy="9144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3568" y="1389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73568" y="16093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store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repe_fund · repe_asset · repe_deal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re_asset_quarter_state · re_scenario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re_fund_quarter_state · rag_chunks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863840" y="237744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2377440"/>
            <a:ext cx="45720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2441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Extension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73568" y="26609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VECTOR(1536) columns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cosine index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tsvector fallback if disabled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863840" y="342900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3429000"/>
            <a:ext cx="45720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493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73568" y="3712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documents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 (PDFs, DOCX)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upload/download URLs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863840" y="4480560"/>
            <a:ext cx="3749040" cy="914400"/>
          </a:xfrm>
          <a:prstGeom prst="rect">
            <a:avLst/>
          </a:prstGeom>
          <a:solidFill>
            <a:srgbClr val="1A25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4480560"/>
            <a:ext cx="45720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73568" y="4544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Flow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973568" y="47640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db:migrate runs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repo-b/db/schema/apply.js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NOT auto on Railway deploy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406640" y="3200400"/>
            <a:ext cx="256032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ysDot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388352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274320" y="5870448"/>
            <a:ext cx="11612880" cy="758952"/>
          </a:xfrm>
          <a:prstGeom prst="rect">
            <a:avLst/>
          </a:prstGeom>
          <a:solidFill>
            <a:srgbClr val="1A25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870448"/>
            <a:ext cx="45720" cy="7589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5907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TIMING GUIDE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11480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11480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~2-4 min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715768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715768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~2-4 min (cached deps)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 (new requirements)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20056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020056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make db:migrate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 by Railway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24344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check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24344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/api/ai/gateway/health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rag_available: true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9628632" y="6071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smoke tests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628632" y="6254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DATABASE_URL=... make test-live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real endpoints + seed data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82880"/>
            <a:ext cx="1146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Router &amp; Lane Dispatch</a:t>
            </a:r>
            <a:endParaRPr lang="en-US" sz="2200" dirty="0"/>
          </a:p>
        </p:txBody>
      </p:sp>
      <p:sp>
        <p:nvSpPr>
          <p:cNvPr id="3" name="Subtitle"/>
          <p:cNvSpPr/>
          <p:nvPr/>
        </p:nvSpPr>
        <p:spPr>
          <a:xfrm>
            <a:off x="365760" y="594360"/>
            <a:ext cx="1146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 determines model, tool budget, RAG depth, and latency target per request</a:t>
            </a:r>
            <a:endParaRPr lang="en-US" sz="1000" dirty="0"/>
          </a:p>
        </p:txBody>
      </p:sp>
      <p:sp>
        <p:nvSpPr>
          <p:cNvPr id="4" name="TopBannerBg"/>
          <p:cNvSpPr/>
          <p:nvPr/>
        </p:nvSpPr>
        <p:spPr>
          <a:xfrm>
            <a:off x="365760" y="850080"/>
            <a:ext cx="11460480" cy="13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</a:p>
        </p:txBody>
      </p:sp>
      <p:sp>
        <p:nvSpPr>
          <p:cNvPr id="5" name="TopBannerText"/>
          <p:cNvSpPr/>
          <p:nvPr/>
        </p:nvSpPr>
        <p:spPr>
          <a:xfrm>
            <a:off x="460000" y="870000"/>
            <a:ext cx="11267000" cy="10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→  classify intent + write-detection  →  assign lane  →  select model + RAG budget</a:t>
            </a:r>
            <a:endParaRPr lang="en-US" sz="900" dirty="0"/>
          </a:p>
        </p:txBody>
      </p:sp>
      <p:sp>
        <p:nvSpPr>
          <p:cNvPr id="6" name="LaneAHeader"/>
          <p:cNvSpPr/>
          <p:nvPr/>
        </p:nvSpPr>
        <p:spPr>
          <a:xfrm>
            <a:off x="460000" y="1020000"/>
            <a:ext cx="2650000" cy="100000"/>
          </a:xfrm>
          <a:prstGeom prst="rect">
            <a:avLst/>
          </a:prstGeom>
          <a:solidFill>
            <a:srgbClr val="003D4F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 · CONVERSATIONAL</a:t>
            </a:r>
            <a:endParaRPr lang="en-US" sz="1000" dirty="0"/>
          </a:p>
        </p:txBody>
      </p:sp>
      <p:sp>
        <p:nvSpPr>
          <p:cNvPr id="7" name="LaneAContent"/>
          <p:cNvSpPr/>
          <p:nvPr/>
        </p:nvSpPr>
        <p:spPr>
          <a:xfrm>
            <a:off x="460000" y="1120000"/>
            <a:ext cx="2650000" cy="48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45720" tIns="45720" rIns="45720" bIns="45720" rtlCol="0" anchor="t"/>
          <a:lstStyle/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Pattern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UI-known context, direct questions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Examples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"what environment", "how many funds?"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Model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gpt-4o-mini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RAG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SKIP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Tools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SKIP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Max Rounds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0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P95 Target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&lt; 1,000ms</a:t>
            </a:r>
          </a:p>
        </p:txBody>
      </p:sp>
      <p:sp>
        <p:nvSpPr>
          <p:cNvPr id="8" name="LaneBHeader"/>
          <p:cNvSpPr/>
          <p:nvPr/>
        </p:nvSpPr>
        <p:spPr>
          <a:xfrm>
            <a:off x="3150000" y="1020000"/>
            <a:ext cx="2650000" cy="100000"/>
          </a:xfrm>
          <a:prstGeom prst="rect">
            <a:avLst/>
          </a:prstGeom>
          <a:solidFill>
            <a:srgbClr val="1B3A1B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 · TOOL-BACKED</a:t>
            </a:r>
            <a:endParaRPr lang="en-US" sz="1000" dirty="0"/>
          </a:p>
        </p:txBody>
      </p:sp>
      <p:sp>
        <p:nvSpPr>
          <p:cNvPr id="9" name="LaneBContent"/>
          <p:cNvSpPr/>
          <p:nvPr/>
        </p:nvSpPr>
        <p:spPr>
          <a:xfrm>
            <a:off x="3150000" y="1120000"/>
            <a:ext cx="2650000" cy="48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45720" tIns="45720" rIns="45720" bIns="45720" rtlCol="0" anchor="t"/>
          <a:lstStyle/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Pattern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Read-only tool lookup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Examples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"list funds", "show assets"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Model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gpt-4o-mini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RAG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SKIP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Tools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1–3 read tools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Max Rounds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2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P95 Target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&lt; 4,000ms</a:t>
            </a:r>
          </a:p>
        </p:txBody>
      </p:sp>
      <p:sp>
        <p:nvSpPr>
          <p:cNvPr id="10" name="LaneCHeader"/>
          <p:cNvSpPr/>
          <p:nvPr/>
        </p:nvSpPr>
        <p:spPr>
          <a:xfrm>
            <a:off x="5840000" y="1020000"/>
            <a:ext cx="2650000" cy="100000"/>
          </a:xfrm>
          <a:prstGeom prst="rect">
            <a:avLst/>
          </a:prstGeom>
          <a:solidFill>
            <a:srgbClr val="3D2200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 · ANALYTICAL</a:t>
            </a:r>
            <a:endParaRPr lang="en-US" sz="1000" dirty="0"/>
          </a:p>
        </p:txBody>
      </p:sp>
      <p:sp>
        <p:nvSpPr>
          <p:cNvPr id="11" name="LaneCContent"/>
          <p:cNvSpPr/>
          <p:nvPr/>
        </p:nvSpPr>
        <p:spPr>
          <a:xfrm>
            <a:off x="5840000" y="1120000"/>
            <a:ext cx="2650000" cy="48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45720" tIns="45720" rIns="45720" bIns="45720" rtlCol="0" anchor="t"/>
          <a:lstStyle/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Pattern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Cross-entity reasoning + RAG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Examples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"compare NOI", "create fund"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Model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gpt-4o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RAG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hybrid, top-5 re-ranked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Tools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up to 5 rounds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Max Rounds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5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P95 Target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&lt; 8,000ms</a:t>
            </a:r>
          </a:p>
        </p:txBody>
      </p:sp>
      <p:sp>
        <p:nvSpPr>
          <p:cNvPr id="12" name="LaneDHeader"/>
          <p:cNvSpPr/>
          <p:nvPr/>
        </p:nvSpPr>
        <p:spPr>
          <a:xfrm>
            <a:off x="8530000" y="1020000"/>
            <a:ext cx="2650000" cy="100000"/>
          </a:xfrm>
          <a:prstGeom prst="rect">
            <a:avLst/>
          </a:prstGeom>
          <a:solidFill>
            <a:srgbClr val="2D0A3D"/>
          </a:solidFill>
          <a:ln>
            <a:noFill/>
          </a:ln>
        </p:spPr>
        <p:txBody>
          <a:bodyPr wrap="square" lIns="45720" tIns="22860" rIns="45720" bIns="2286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 · DEEP REASONING</a:t>
            </a:r>
            <a:endParaRPr lang="en-US" sz="1000" dirty="0"/>
          </a:p>
        </p:txBody>
      </p:sp>
      <p:sp>
        <p:nvSpPr>
          <p:cNvPr id="13" name="LaneDContent"/>
          <p:cNvSpPr/>
          <p:nvPr/>
        </p:nvSpPr>
        <p:spPr>
          <a:xfrm>
            <a:off x="8530000" y="1120000"/>
            <a:ext cx="2650000" cy="48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45720" tIns="45720" rIns="45720" bIns="45720" rtlCol="0" anchor="t"/>
          <a:lstStyle/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Pattern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Complex multi-step analysis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Examples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</a:rPr>
              <a:t>"sensitivity analysis under 3 scenarios"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Model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gpt-4o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RAG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full + boost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Tools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unlimited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Max Rounds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10</a:t>
            </a:r>
          </a:p>
          <a:p>
            <a:pPr indent="0" marL="0" lv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P95 Target</a:t>
            </a:r>
          </a:p>
          <a:p>
            <a:pPr indent="0" marL="68580" lv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</a:rPr>
              <a:t>&lt; 20,000ms</a:t>
            </a:r>
          </a:p>
        </p:txBody>
      </p:sp>
      <p:sp>
        <p:nvSpPr>
          <p:cNvPr id="14" name="BottomBarBg"/>
          <p:cNvSpPr/>
          <p:nvPr/>
        </p:nvSpPr>
        <p:spPr>
          <a:xfrm>
            <a:off x="365760" y="6000000"/>
            <a:ext cx="11460480" cy="55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</a:p>
        </p:txBody>
      </p:sp>
      <p:sp>
        <p:nvSpPr>
          <p:cNvPr id="15" name="BottomBarText"/>
          <p:cNvSpPr/>
          <p:nvPr/>
        </p:nvSpPr>
        <p:spPr>
          <a:xfrm>
            <a:off x="460000" y="6020000"/>
            <a:ext cx="11267000" cy="51000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DETECTION · _WRITE_RE pattern: (create|add|new|set up|register) + (fund|deal|asset|property) → Lane C with confirmation gate enabled · Non-mutation queries never trigger write routing</a:t>
            </a:r>
            <a:endParaRPr lang="en-US" sz="800" dirty="0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Re-Ranking Pipeline</a:t>
            </a:r>
            <a:endParaRPr lang="en-US" sz="2200" dirty="0"/>
          </a:p>
        </p:txBody>
      </p:sp>
      <p:sp>
        <p:nvSpPr>
          <p:cNvPr id="3" name="Subtitle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retrieval quality chain: over-fetch → threshold → hybrid fusion → metadata boost → cross-encoder → diversity</a:t>
            </a:r>
            <a:endParaRPr lang="en-US" sz="1000" dirty="0"/>
          </a:p>
        </p:txBody>
      </p:sp>
      <p:sp>
        <p:nvSpPr>
          <p:cNvPr id="4" name="Stage1_Header"/>
          <p:cNvSpPr/>
          <p:nvPr/>
        </p:nvSpPr>
        <p:spPr>
          <a:xfrm>
            <a:off x="460000" y="850000"/>
            <a:ext cx="1800000" cy="220000"/>
          </a:xfrm>
          <a:prstGeom prst="rect">
            <a:avLst/>
          </a:prstGeom>
          <a:solidFill>
            <a:srgbClr val="0A2000"/>
          </a:solidFill>
          <a:ln>
            <a:solidFill>
              <a:srgbClr val="4CAF50"/>
            </a:solidFill>
            <a:prstDash val="solid"/>
            <a:round/>
          </a:ln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SCORE THRESHOLD</a:t>
            </a:r>
            <a:endParaRPr lang="en-US" sz="900" dirty="0"/>
          </a:p>
        </p:txBody>
      </p:sp>
      <p:sp>
        <p:nvSpPr>
          <p:cNvPr id="5" name="Stage1_Content"/>
          <p:cNvSpPr/>
          <p:nvPr/>
        </p:nvSpPr>
        <p:spPr>
          <a:xfrm>
            <a:off x="460000" y="1070000"/>
            <a:ext cx="1800000" cy="22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50000" tIns="50000" rIns="50000" bIns="5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cosine score ≥ RAG_MIN_SCORE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default: 0.72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eliminates noise before re-ranking begins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100% pass → threshold too low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0% pass → threshold too high or no docs</a:t>
            </a:r>
          </a:p>
        </p:txBody>
      </p:sp>
      <p:sp>
        <p:nvSpPr>
          <p:cNvPr id="6" name="Stage2_Header"/>
          <p:cNvSpPr/>
          <p:nvPr/>
        </p:nvSpPr>
        <p:spPr>
          <a:xfrm>
            <a:off x="2320000" y="850000"/>
            <a:ext cx="1800000" cy="220000"/>
          </a:xfrm>
          <a:prstGeom prst="rect">
            <a:avLst/>
          </a:prstGeom>
          <a:solidFill>
            <a:srgbClr val="003040"/>
          </a:solidFill>
          <a:ln>
            <a:solidFill>
              <a:srgbClr val="00BCD4"/>
            </a:solidFill>
            <a:prstDash val="solid"/>
            <a:round/>
          </a:ln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HYBRID SEARCH</a:t>
            </a:r>
            <a:endParaRPr lang="en-US" sz="900" dirty="0"/>
          </a:p>
        </p:txBody>
      </p:sp>
      <p:sp>
        <p:nvSpPr>
          <p:cNvPr id="7" name="Stage2_Content"/>
          <p:cNvSpPr/>
          <p:nvPr/>
        </p:nvSpPr>
        <p:spPr>
          <a:xfrm>
            <a:off x="2320000" y="1070000"/>
            <a:ext cx="1800000" cy="22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50000" tIns="50000" rIns="50000" bIns="5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Reciprocal Rank Fusion (RRF)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combines cosine + FTS tsvector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RRF score = Σ 1/(k + rank_i) where k=60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enables exact-term recall (defined terms)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RAG_HYBRID_ENABLED = true</a:t>
            </a:r>
          </a:p>
        </p:txBody>
      </p:sp>
      <p:sp>
        <p:nvSpPr>
          <p:cNvPr id="8" name="Stage3_Header"/>
          <p:cNvSpPr/>
          <p:nvPr/>
        </p:nvSpPr>
        <p:spPr>
          <a:xfrm>
            <a:off x="4180000" y="850000"/>
            <a:ext cx="1800000" cy="220000"/>
          </a:xfrm>
          <a:prstGeom prst="rect">
            <a:avLst/>
          </a:prstGeom>
          <a:solidFill>
            <a:srgbClr val="3D2000"/>
          </a:solidFill>
          <a:ln>
            <a:solidFill>
              <a:srgbClr val="FF9800"/>
            </a:solidFill>
            <a:prstDash val="solid"/>
            <a:round/>
          </a:ln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METADATA BOOST</a:t>
            </a:r>
            <a:endParaRPr lang="en-US" sz="900" dirty="0"/>
          </a:p>
        </p:txBody>
      </p:sp>
      <p:sp>
        <p:nvSpPr>
          <p:cNvPr id="9" name="Stage3_Content"/>
          <p:cNvSpPr/>
          <p:nvPr/>
        </p:nvSpPr>
        <p:spPr>
          <a:xfrm>
            <a:off x="4180000" y="1070000"/>
            <a:ext cx="1800000" cy="22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50000" tIns="50000" rIns="50000" bIns="5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entity scope boost × 1.3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content_type_hint match × 1.15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recency: score × e^(-λ·days)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boosted scores re-ranked in unified list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entity_type: fund | asset | deal | doc</a:t>
            </a:r>
          </a:p>
        </p:txBody>
      </p:sp>
      <p:sp>
        <p:nvSpPr>
          <p:cNvPr id="10" name="Stage4_Header"/>
          <p:cNvSpPr/>
          <p:nvPr/>
        </p:nvSpPr>
        <p:spPr>
          <a:xfrm>
            <a:off x="6040000" y="850000"/>
            <a:ext cx="1800000" cy="220000"/>
          </a:xfrm>
          <a:prstGeom prst="rect">
            <a:avLst/>
          </a:prstGeom>
          <a:solidFill>
            <a:srgbClr val="3D0020"/>
          </a:solidFill>
          <a:ln>
            <a:solidFill>
              <a:srgbClr val="E91E63"/>
            </a:solidFill>
            <a:prstDash val="solid"/>
            <a:round/>
          </a:ln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</a:rPr>
              <a:t>CROSS-ENCODER</a:t>
            </a:r>
            <a:endParaRPr lang="en-US" sz="900" dirty="0"/>
          </a:p>
        </p:txBody>
      </p:sp>
      <p:sp>
        <p:nvSpPr>
          <p:cNvPr id="11" name="Stage4_Content"/>
          <p:cNvSpPr/>
          <p:nvPr/>
        </p:nvSpPr>
        <p:spPr>
          <a:xfrm>
            <a:off x="6040000" y="1070000"/>
            <a:ext cx="1800000" cy="22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50000" tIns="50000" rIns="50000" bIns="5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Cohere Rerank v3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query × chunk cross-attention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top-20 candidates in → top-5 out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timeout: 800ms → fallback to cosine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rerank_method: 'cohere' | 'fallback'</a:t>
            </a:r>
          </a:p>
        </p:txBody>
      </p:sp>
      <p:sp>
        <p:nvSpPr>
          <p:cNvPr id="12" name="Stage5_Header"/>
          <p:cNvSpPr/>
          <p:nvPr/>
        </p:nvSpPr>
        <p:spPr>
          <a:xfrm>
            <a:off x="7900000" y="850000"/>
            <a:ext cx="1800000" cy="220000"/>
          </a:xfrm>
          <a:prstGeom prst="rect">
            <a:avLst/>
          </a:prstGeom>
          <a:solidFill>
            <a:srgbClr val="1E0030"/>
          </a:solidFill>
          <a:ln>
            <a:solidFill>
              <a:srgbClr val="9C27B0"/>
            </a:solidFill>
            <a:prstDash val="solid"/>
            <a:round/>
          </a:ln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DIVERSITY DEDUP</a:t>
            </a:r>
            <a:endParaRPr lang="en-US" sz="900" dirty="0"/>
          </a:p>
        </p:txBody>
      </p:sp>
      <p:sp>
        <p:nvSpPr>
          <p:cNvPr id="13" name="Stage5_Content"/>
          <p:cNvSpPr/>
          <p:nvPr/>
        </p:nvSpPr>
        <p:spPr>
          <a:xfrm>
            <a:off x="7900000" y="1070000"/>
            <a:ext cx="1800000" cy="22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50000" tIns="50000" rIns="50000" bIns="5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MMR: Maximal Marginal Relevance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λ=0.5 (relevance vs diversity)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prevents 5 chunks from same section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guarantees section heading variety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runs after cross-encoder scoring</a:t>
            </a:r>
          </a:p>
        </p:txBody>
      </p:sp>
      <p:sp>
        <p:nvSpPr>
          <p:cNvPr id="14" name="Stage6_Header"/>
          <p:cNvSpPr/>
          <p:nvPr/>
        </p:nvSpPr>
        <p:spPr>
          <a:xfrm>
            <a:off x="9760000" y="850000"/>
            <a:ext cx="1800000" cy="220000"/>
          </a:xfrm>
          <a:prstGeom prst="rect">
            <a:avLst/>
          </a:prstGeom>
          <a:solidFill>
            <a:srgbClr val="3D0A00"/>
          </a:solidFill>
          <a:ln>
            <a:solidFill>
              <a:srgbClr val="F44336"/>
            </a:solidFill>
            <a:prstDash val="solid"/>
            <a:round/>
          </a:ln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4336"/>
                </a:solidFill>
                <a:latin typeface="Calibri" pitchFamily="34" charset="0"/>
              </a:rPr>
              <a:t>LANE BUDGET</a:t>
            </a:r>
            <a:endParaRPr lang="en-US" sz="900" dirty="0"/>
          </a:p>
        </p:txBody>
      </p:sp>
      <p:sp>
        <p:nvSpPr>
          <p:cNvPr id="15" name="Stage6_Content"/>
          <p:cNvSpPr/>
          <p:nvPr/>
        </p:nvSpPr>
        <p:spPr>
          <a:xfrm>
            <a:off x="9760000" y="1070000"/>
            <a:ext cx="1800000" cy="22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50000" tIns="50000" rIns="50000" bIns="5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Lane A: 0 chunks (skip RAG)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Lane B: 0 chunks (skip RAG)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Lane C: top-5 parent chunks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Lane D: top-8 parent chunks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each chunk = 800 token parent context</a:t>
            </a:r>
          </a:p>
        </p:txBody>
      </p:sp>
      <p:sp>
        <p:nvSpPr>
          <p:cNvPr id="16" name="Arrow1"/>
          <p:cNvSpPr/>
          <p:nvPr/>
        </p:nvSpPr>
        <p:spPr>
          <a:xfrm>
            <a:off x="2260000" y="2100000"/>
            <a:ext cx="50000" cy="200000"/>
          </a:xfrm>
          <a:prstGeom prst="rtTriangl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17" name="Arrow2"/>
          <p:cNvSpPr/>
          <p:nvPr/>
        </p:nvSpPr>
        <p:spPr>
          <a:xfrm>
            <a:off x="4120000" y="2100000"/>
            <a:ext cx="50000" cy="200000"/>
          </a:xfrm>
          <a:prstGeom prst="rtTriangl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18" name="Arrow3"/>
          <p:cNvSpPr/>
          <p:nvPr/>
        </p:nvSpPr>
        <p:spPr>
          <a:xfrm>
            <a:off x="5980000" y="2100000"/>
            <a:ext cx="50000" cy="200000"/>
          </a:xfrm>
          <a:prstGeom prst="rtTriangl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19" name="Arrow4"/>
          <p:cNvSpPr/>
          <p:nvPr/>
        </p:nvSpPr>
        <p:spPr>
          <a:xfrm>
            <a:off x="7840000" y="2100000"/>
            <a:ext cx="50000" cy="200000"/>
          </a:xfrm>
          <a:prstGeom prst="rtTriangl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0" name="Arrow5"/>
          <p:cNvSpPr/>
          <p:nvPr/>
        </p:nvSpPr>
        <p:spPr>
          <a:xfrm>
            <a:off x="9700000" y="2100000"/>
            <a:ext cx="50000" cy="200000"/>
          </a:xfrm>
          <a:prstGeom prst="rtTriangl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1" name="BottomBg"/>
          <p:cNvSpPr/>
          <p:nvPr/>
        </p:nvSpPr>
        <p:spPr>
          <a:xfrm>
            <a:off x="460000" y="3100000"/>
            <a:ext cx="11300000" cy="14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22" name="TraceTitle"/>
          <p:cNvSpPr/>
          <p:nvPr/>
        </p:nvSpPr>
        <p:spPr>
          <a:xfrm>
            <a:off x="460000" y="3420000"/>
            <a:ext cx="54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</a:rPr>
              <a:t>DONE EVENT TRACE · rag object</a:t>
            </a:r>
            <a:endParaRPr lang="en-US" sz="900" dirty="0"/>
          </a:p>
        </p:txBody>
      </p:sp>
      <p:sp>
        <p:nvSpPr>
          <p:cNvPr id="23" name="TraceContent"/>
          <p:cNvSpPr/>
          <p:nvPr/>
        </p:nvSpPr>
        <p:spPr>
          <a:xfrm>
            <a:off x="460000" y="3700000"/>
            <a:ext cx="54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trace.rag.candidates_retrieved (20)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trace.rag.candidates_after_threshold (N)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trace.rag.candidates_after_rerank (5)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trace.rag.rerank_method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trace.rag.hybrid_search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trace.rag_chunks_used</a:t>
            </a:r>
          </a:p>
        </p:txBody>
      </p:sp>
      <p:sp>
        <p:nvSpPr>
          <p:cNvPr id="24" name="ConfigTitle"/>
          <p:cNvSpPr/>
          <p:nvPr/>
        </p:nvSpPr>
        <p:spPr>
          <a:xfrm>
            <a:off x="6000000" y="3420000"/>
            <a:ext cx="57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</a:rPr>
              <a:t>ENVIRONMENT CONFIG</a:t>
            </a:r>
            <a:endParaRPr lang="en-US" sz="900" dirty="0"/>
          </a:p>
        </p:txBody>
      </p:sp>
      <p:sp>
        <p:nvSpPr>
          <p:cNvPr id="25" name="ConfigContent"/>
          <p:cNvSpPr/>
          <p:nvPr/>
        </p:nvSpPr>
        <p:spPr>
          <a:xfrm>
            <a:off x="6000000" y="3700000"/>
            <a:ext cx="57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rtlCol="0" anchor="t"/>
          <a:lstStyle/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RAG_TOP_K=5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RAG_MIN_SCORE=0.72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RAG_RRF_K=60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RAG_RERANK_ENABLED=true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COHERE_API_KEY=required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RAG_HYBRID_ENABLED=true</a:t>
            </a:r>
          </a:p>
          <a:p>
            <a:pPr indent="0" marL="0" sz="80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COHERE_TIMEOUT_MS=800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Intelligence Pipeline</a:t>
            </a:r>
            <a:endParaRPr lang="en-US" sz="2200" dirty="0"/>
          </a:p>
        </p:txBody>
      </p:sp>
      <p:sp>
        <p:nvSpPr>
          <p:cNvPr id="3" name="Subtitle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Classify → Extract → Confirm → Write · Structured extraction for loans, leases, PSAs, JV agreements, appraisals</a:t>
            </a:r>
            <a:endParaRPr lang="en-US" sz="1000" dirty="0"/>
          </a:p>
        </p:txBody>
      </p:sp>
      <p:sp>
        <p:nvSpPr>
          <p:cNvPr id="4" name="Upload Box"/>
          <p:cNvSpPr/>
          <p:nvPr/>
        </p:nvSpPr>
        <p:spPr>
          <a:xfrm>
            <a:off x="365760" y="750000"/>
            <a:ext cx="1750000" cy="2350000"/>
          </a:xfrm>
          <a:prstGeom prst="rect">
            <a:avLst/>
          </a:prstGeom>
          <a:solidFill>
            <a:srgbClr val="0D1B3E"/>
          </a:solidFill>
          <a:ln>
            <a:solidFill>
              <a:srgbClr val="1565C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</a:rPr>
              <a:t>UPLOAD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PDF upload via /ask-doc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multipart/form-data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max 10MB, PDF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drag-drop or paperclip</a:t>
            </a:r>
            <a:endParaRPr lang="en-US" sz="800" dirty="0"/>
          </a:p>
        </p:txBody>
      </p:sp>
      <p:sp>
        <p:nvSpPr>
          <p:cNvPr id="5" name="Classify Box"/>
          <p:cNvSpPr/>
          <p:nvPr/>
        </p:nvSpPr>
        <p:spPr>
          <a:xfrm>
            <a:off x="2200000" y="750000"/>
            <a:ext cx="1750000" cy="2350000"/>
          </a:xfrm>
          <a:prstGeom prst="rect">
            <a:avLst/>
          </a:prstGeom>
          <a:solidFill>
            <a:srgbClr val="003D4F"/>
          </a:solidFill>
          <a:ln>
            <a:solidFill>
              <a:srgbClr val="00BCD4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CLASSIFY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document_classifier.py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2-page heuristic pass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confidence ≥ 0.6 = auto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&lt; 0.6 = Winston asks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DocumentClass enum</a:t>
            </a:r>
            <a:endParaRPr lang="en-US" sz="800" dirty="0"/>
          </a:p>
        </p:txBody>
      </p:sp>
      <p:sp>
        <p:nvSpPr>
          <p:cNvPr id="6" name="Extract Box"/>
          <p:cNvSpPr/>
          <p:nvPr/>
        </p:nvSpPr>
        <p:spPr>
          <a:xfrm>
            <a:off x="4035000" y="750000"/>
            <a:ext cx="1750000" cy="2350000"/>
          </a:xfrm>
          <a:prstGeom prst="rect">
            <a:avLst/>
          </a:prstGeom>
          <a:solidFill>
            <a:srgbClr val="3D2200"/>
          </a:solidFill>
          <a:ln>
            <a:solidFill>
              <a:srgbClr val="FF980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EXTRACT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document_extractor.py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type-specific schemas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pdfplumber + GPT-4o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→ document_extractions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JSONB + confidence</a:t>
            </a:r>
            <a:endParaRPr lang="en-US" sz="800" dirty="0"/>
          </a:p>
        </p:txBody>
      </p:sp>
      <p:sp>
        <p:nvSpPr>
          <p:cNvPr id="7" name="Confirm Box"/>
          <p:cNvSpPr/>
          <p:nvPr/>
        </p:nvSpPr>
        <p:spPr>
          <a:xfrm>
            <a:off x="5870000" y="750000"/>
            <a:ext cx="1750000" cy="2350000"/>
          </a:xfrm>
          <a:prstGeom prst="rect">
            <a:avLst/>
          </a:prstGeom>
          <a:solidFill>
            <a:srgbClr val="3D2E00"/>
          </a:solidFill>
          <a:ln>
            <a:solidFill>
              <a:srgbClr val="FFC107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</a:rPr>
              <a:t>CONFIRM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Winston presents table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key fields + flagged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confirmation gate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user reviews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before write</a:t>
            </a:r>
            <a:endParaRPr lang="en-US" sz="800" dirty="0"/>
          </a:p>
        </p:txBody>
      </p:sp>
      <p:sp>
        <p:nvSpPr>
          <p:cNvPr id="8" name="Write Box"/>
          <p:cNvSpPr/>
          <p:nvPr/>
        </p:nvSpPr>
        <p:spPr>
          <a:xfrm>
            <a:off x="7705000" y="750000"/>
            <a:ext cx="1750000" cy="2350000"/>
          </a:xfrm>
          <a:prstGeom prst="rect">
            <a:avLst/>
          </a:prstGeom>
          <a:solidFill>
            <a:srgbClr val="0A2000"/>
          </a:solidFill>
          <a:ln>
            <a:solidFill>
              <a:srgbClr val="4CAF5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WRITE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repe.create_asset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repe.create_deal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covenant_monitoring rows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clause_library entries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DB write + SSE</a:t>
            </a:r>
            <a:endParaRPr lang="en-US" sz="800" dirty="0"/>
          </a:p>
        </p:txBody>
      </p:sp>
      <p:sp>
        <p:nvSpPr>
          <p:cNvPr id="9" name="Monitor Box"/>
          <p:cNvSpPr/>
          <p:nvPr/>
        </p:nvSpPr>
        <p:spPr>
          <a:xfrm>
            <a:off x="9540000" y="750000"/>
            <a:ext cx="1750000" cy="2350000"/>
          </a:xfrm>
          <a:prstGeom prst="rect">
            <a:avLst/>
          </a:prstGeom>
          <a:solidFill>
            <a:srgbClr val="1E0030"/>
          </a:solidFill>
          <a:ln>
            <a:solidFill>
              <a:srgbClr val="9C27B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MONITOR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covenant_monitoring job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runs on quarter-close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DSCR / occupancy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alert on breach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proactive surface</a:t>
            </a:r>
            <a:endParaRPr lang="en-US" sz="800" dirty="0"/>
          </a:p>
        </p:txBody>
      </p:sp>
      <p:sp>
        <p:nvSpPr>
          <p:cNvPr id="10" name="SSE Events Box"/>
          <p:cNvSpPr/>
          <p:nvPr/>
        </p:nvSpPr>
        <p:spPr>
          <a:xfrm>
            <a:off x="365760" y="1950000"/>
            <a:ext cx="5500000" cy="900000"/>
          </a:xfrm>
          <a:prstGeom prst="rect">
            <a:avLst/>
          </a:prstGeom>
          <a:solidFill>
            <a:srgbClr val="0D1B2A"/>
          </a:solidFill>
          <a:ln>
            <a:solidFill>
              <a:srgbClr val="00BCD4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</a:rPr>
              <a:t>SSE EVENTS DURING DOCUMENT FLOW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status → classifying… | token → field summary table | citation → source chunk | tool_call → repe.create_asset | done → asset_id + trace</a:t>
            </a:r>
            <a:endParaRPr lang="en-US" sz="800" dirty="0"/>
          </a:p>
        </p:txBody>
      </p:sp>
      <p:sp>
        <p:nvSpPr>
          <p:cNvPr id="11" name="Document Types Box"/>
          <p:cNvSpPr/>
          <p:nvPr/>
        </p:nvSpPr>
        <p:spPr>
          <a:xfrm>
            <a:off x="6035760" y="1950000"/>
            <a:ext cx="5400000" cy="900000"/>
          </a:xfrm>
          <a:prstGeom prst="rect">
            <a:avLst/>
          </a:prstGeom>
          <a:solidFill>
            <a:srgbClr val="0D1B2A"/>
          </a:solidFill>
          <a:ln>
            <a:solidFill>
              <a:srgbClr val="FF980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SUPPORTED DOCUMENT TYPES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</a:rPr>
              <a:t>Loan Agreement · Lease · PSA · JV Agreement · Appraisal · IC Memo · Operating Agreement · Rent Roll · Draw Schedule · Construction Contract</a:t>
            </a:r>
            <a:endParaRPr lang="en-US" sz="800" dirty="0"/>
          </a:p>
        </p:txBody>
      </p:sp>
      <p:sp>
        <p:nvSpPr>
          <p:cNvPr id="12" name="Loan Schema Box"/>
          <p:cNvSpPr/>
          <p:nvPr/>
        </p:nvSpPr>
        <p:spPr>
          <a:xfrm>
            <a:off x="365760" y="3050000"/>
            <a:ext cx="2700000" cy="2350000"/>
          </a:xfrm>
          <a:prstGeom prst="rect">
            <a:avLst/>
          </a:prstGeom>
          <a:solidFill>
            <a:srgbClr val="0D1B3E"/>
          </a:solidFill>
          <a:ln>
            <a:solidFill>
              <a:srgbClr val="1565C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</a:rPr>
              <a:t>LOAN EXTRACTION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lender, borrower, loan_amount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interest_rate (SOFR + spread)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maturity_date, extension_options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dscr_covenant, occupancy_covenant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prepayment_penalty, recourse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covenants: list[Covenant]</a:t>
            </a:r>
            <a:endParaRPr lang="en-US" sz="800" dirty="0"/>
          </a:p>
        </p:txBody>
      </p:sp>
      <p:sp>
        <p:nvSpPr>
          <p:cNvPr id="13" name="Lease Schema Box"/>
          <p:cNvSpPr/>
          <p:nvPr/>
        </p:nvSpPr>
        <p:spPr>
          <a:xfrm>
            <a:off x="3200000" y="3050000"/>
            <a:ext cx="2700000" cy="2350000"/>
          </a:xfrm>
          <a:prstGeom prst="rect">
            <a:avLst/>
          </a:prstGeom>
          <a:solidFill>
            <a:srgbClr val="0A2000"/>
          </a:solidFill>
          <a:ln>
            <a:solidFill>
              <a:srgbClr val="4CAF5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</a:rPr>
              <a:t>LEASE EXTRACTION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tenant_name, lease_type (NNN/gross)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rentable_sf, lease_commencement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base_rent_psf, annual_escalation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free_rent_months, TI allowance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renewal_options, termination_options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co_tenancy, exclusivity</a:t>
            </a:r>
            <a:endParaRPr lang="en-US" sz="800" dirty="0"/>
          </a:p>
        </p:txBody>
      </p:sp>
      <p:sp>
        <p:nvSpPr>
          <p:cNvPr id="14" name="PSA Schema Box"/>
          <p:cNvSpPr/>
          <p:nvPr/>
        </p:nvSpPr>
        <p:spPr>
          <a:xfrm>
            <a:off x="6035000" y="3050000"/>
            <a:ext cx="2700000" cy="2350000"/>
          </a:xfrm>
          <a:prstGeom prst="rect">
            <a:avLst/>
          </a:prstGeom>
          <a:solidFill>
            <a:srgbClr val="3D2200"/>
          </a:solidFill>
          <a:ln>
            <a:solidFill>
              <a:srgbClr val="FF980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</a:rPr>
              <a:t>PSA EXTRACTION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buyer, seller, purchase_price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earnest_money, DD period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closing_date, financing contingency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representations_expiration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escrow_agent, title_company</a:t>
            </a:r>
            <a:endParaRPr lang="en-US" sz="800" dirty="0"/>
          </a:p>
        </p:txBody>
      </p:sp>
      <p:sp>
        <p:nvSpPr>
          <p:cNvPr id="15" name="JV Schema Box"/>
          <p:cNvSpPr/>
          <p:nvPr/>
        </p:nvSpPr>
        <p:spPr>
          <a:xfrm>
            <a:off x="8870000" y="3050000"/>
            <a:ext cx="2700000" cy="2350000"/>
          </a:xfrm>
          <a:prstGeom prst="rect">
            <a:avLst/>
          </a:prstGeom>
          <a:solidFill>
            <a:srgbClr val="1E0030"/>
          </a:solidFill>
          <a:ln>
            <a:solidFill>
              <a:srgbClr val="9C27B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</a:rPr>
              <a:t>JV EXTRACTION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gp_entity, lp_entities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preferred_return (%), promote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gp/lp commitment 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management_fee, fund_term_years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</a:rPr>
              <a:t>decision_rights, waterfall</a:t>
            </a:r>
            <a:endParaRPr lang="en-US" sz="800" dirty="0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/>
          <p:nvPr/>
        </p:nvSpPr>
        <p:spPr>
          <a:xfrm>
            <a:off x="365760" y="164592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2200" b="1" fontFamily="Georgia">
                <a:solidFill>
                  <a:srgbClr val="F1F5F9"/>
                </a:solidFill>
              </a:rPr>
              <a:t>Write Tools &amp; Confirmation Gate</a:t>
            </a:r>
          </a:p>
        </p:txBody>
      </p:sp>
      <p:sp>
        <p:nvSpPr>
          <p:cNvPr id="3" name="Subtitle"/>
          <p:cNvSpPr/>
          <p:nvPr/>
        </p:nvSpPr>
        <p:spPr>
          <a:xfrm>
            <a:off x="365760" y="54864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1000" fontFamily="Calibri">
                <a:solidFill>
                  <a:srgbClr val="94A3B8"/>
                </a:solidFill>
              </a:rPr>
              <a:t>Two-phase mutation flow: Winston proposes → user confirms → write tool executes · No create_* fires without explicit confirmation</a:t>
            </a:r>
          </a:p>
        </p:txBody>
      </p:sp>
      <p:sp>
        <p:nvSpPr>
          <p:cNvPr id="4" name="LeftSectionTitle"/>
          <p:cNvSpPr/>
          <p:nvPr/>
        </p:nvSpPr>
        <p:spPr>
          <a:xfrm>
            <a:off x="460000" y="75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F9800"/>
                </a:solidFill>
              </a:rPr>
              <a:t>PLAN → CONFIRM → EXECUTE FLOW</a:t>
            </a:r>
          </a:p>
        </p:txBody>
      </p:sp>
      <p:sp>
        <p:nvSpPr>
          <p:cNvPr id="5" name="Step1"/>
          <p:cNvSpPr/>
          <p:nvPr/>
        </p:nvSpPr>
        <p:spPr>
          <a:xfrm>
            <a:off x="460000" y="1100000"/>
            <a:ext cx="4800000" cy="720000"/>
          </a:xfrm>
          <a:prstGeom prst="rect">
            <a:avLst/>
          </a:prstGeom>
          <a:solidFill>
            <a:srgbClr val="1E293B"/>
          </a:solidFill>
          <a:ln>
            <a:solidFill>
              <a:srgbClr val="00BCD4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00BCD4"/>
                </a:solidFill>
              </a:rPr>
              <a:t>1 · USER REQUEST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create a fund called Cypress Point Fund I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vintage 2026, closed-end, value-add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→ write-detection regex fires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→ routed to Lane C</a:t>
            </a:r>
          </a:p>
        </p:txBody>
      </p:sp>
      <p:sp>
        <p:nvSpPr>
          <p:cNvPr id="6" name="Step2"/>
          <p:cNvSpPr/>
          <p:nvPr/>
        </p:nvSpPr>
        <p:spPr>
          <a:xfrm>
            <a:off x="460000" y="1880000"/>
            <a:ext cx="4800000" cy="720000"/>
          </a:xfrm>
          <a:prstGeom prst="rect">
            <a:avLst/>
          </a:prstGeom>
          <a:solidFill>
            <a:srgbClr val="1E293B"/>
          </a:solidFill>
          <a:ln>
            <a:solidFill>
              <a:srgbClr val="FF980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F9800"/>
                </a:solidFill>
              </a:rPr>
              <a:t>2 · WINSTON PRESENTS PLAN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Field summary table streamed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Name: Cypress Point Fund I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Vintage: 2026 | Strategy: Value-Add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"Shall I proceed?"</a:t>
            </a:r>
          </a:p>
        </p:txBody>
      </p:sp>
      <p:sp>
        <p:nvSpPr>
          <p:cNvPr id="7" name="Step3"/>
          <p:cNvSpPr/>
          <p:nvPr/>
        </p:nvSpPr>
        <p:spPr>
          <a:xfrm>
            <a:off x="460000" y="2660000"/>
            <a:ext cx="4800000" cy="720000"/>
          </a:xfrm>
          <a:prstGeom prst="rect">
            <a:avLst/>
          </a:prstGeom>
          <a:solidFill>
            <a:srgbClr val="3D0A00"/>
          </a:solidFill>
          <a:ln>
            <a:solidFill>
              <a:srgbClr val="F44336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44336"/>
                </a:solidFill>
              </a:rPr>
              <a:t>3 · CONFIRMATION GATE ⚠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NO tool_call event yet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trace.tool_timeline has NO repe.create_fund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User must reply 'yes' or 'proceed'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Gate held in conversation memory</a:t>
            </a:r>
          </a:p>
        </p:txBody>
      </p:sp>
      <p:sp>
        <p:nvSpPr>
          <p:cNvPr id="8" name="Step4"/>
          <p:cNvSpPr/>
          <p:nvPr/>
        </p:nvSpPr>
        <p:spPr>
          <a:xfrm>
            <a:off x="460000" y="3440000"/>
            <a:ext cx="4800000" cy="720000"/>
          </a:xfrm>
          <a:prstGeom prst="rect">
            <a:avLst/>
          </a:prstGeom>
          <a:solidFill>
            <a:srgbClr val="0D1B2A"/>
          </a:solidFill>
          <a:ln>
            <a:solidFill>
              <a:srgbClr val="4CAF5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4CAF50"/>
                </a:solidFill>
              </a:rPr>
              <a:t>4 · USER CONFIRMS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'Yes, proceed'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Confirmation detected in next turn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confirmed = True passed to tool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Gate clears</a:t>
            </a:r>
          </a:p>
        </p:txBody>
      </p:sp>
      <p:sp>
        <p:nvSpPr>
          <p:cNvPr id="9" name="Step5"/>
          <p:cNvSpPr/>
          <p:nvPr/>
        </p:nvSpPr>
        <p:spPr>
          <a:xfrm>
            <a:off x="460000" y="4220000"/>
            <a:ext cx="4800000" cy="720000"/>
          </a:xfrm>
          <a:prstGeom prst="rect">
            <a:avLst/>
          </a:prstGeom>
          <a:solidFill>
            <a:srgbClr val="0A2000"/>
          </a:solidFill>
          <a:ln>
            <a:solidFill>
              <a:srgbClr val="4CAF5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4CAF50"/>
                </a:solidFill>
              </a:rPr>
              <a:t>5 · WRITE EXECUTES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tool_call: repe.create_fund fires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tool_result: { fund_id: uuid }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DB write: INSERT INTO repe_fund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done event: trace includes tool_timeline</a:t>
            </a:r>
          </a:p>
        </p:txBody>
      </p:sp>
      <p:sp>
        <p:nvSpPr>
          <p:cNvPr id="10" name="RightSectionTitle"/>
          <p:cNvSpPr/>
          <p:nvPr/>
        </p:nvSpPr>
        <p:spPr>
          <a:xfrm>
            <a:off x="5700000" y="75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4CAF50"/>
                </a:solidFill>
              </a:rPr>
              <a:t>WRITE TOOL REGISTRY</a:t>
            </a:r>
          </a:p>
        </p:txBody>
      </p:sp>
      <p:sp>
        <p:nvSpPr>
          <p:cNvPr id="11" name="Tool1"/>
          <p:cNvSpPr/>
          <p:nvPr/>
        </p:nvSpPr>
        <p:spPr>
          <a:xfrm>
            <a:off x="5700000" y="1100000"/>
            <a:ext cx="2000000" cy="1600000"/>
          </a:xfrm>
          <a:prstGeom prst="rect">
            <a:avLst/>
          </a:prstGeom>
          <a:solidFill>
            <a:srgbClr val="0A2000"/>
          </a:solidFill>
          <a:ln>
            <a:solidFill>
              <a:srgbClr val="4CAF5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4CAF50"/>
                </a:solidFill>
              </a:rPr>
              <a:t>repe.create_fund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name: str (required)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vintage_year: int | None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strategy: "core" | "value_add"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fund_type: "open_end"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status: "fundraising"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target_size_usd: float | None</a:t>
            </a:r>
          </a:p>
          <a:p>
            <a:pPr algn="l"/>
            <a:r>
              <a:rPr lang="en-US" sz="800" fontFamily="Calibri">
                <a:solidFill>
                  <a:srgbClr val="F44336"/>
                </a:solidFill>
              </a:rPr>
              <a:t>confirmed: bool = False</a:t>
            </a:r>
          </a:p>
        </p:txBody>
      </p:sp>
      <p:sp>
        <p:nvSpPr>
          <p:cNvPr id="12" name="Tool2"/>
          <p:cNvSpPr/>
          <p:nvPr/>
        </p:nvSpPr>
        <p:spPr>
          <a:xfrm>
            <a:off x="7800000" y="1100000"/>
            <a:ext cx="2000000" cy="1600000"/>
          </a:xfrm>
          <a:prstGeom prst="rect">
            <a:avLst/>
          </a:prstGeom>
          <a:solidFill>
            <a:srgbClr val="003040"/>
          </a:solidFill>
          <a:ln>
            <a:solidFill>
              <a:srgbClr val="00BCD4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00BCD4"/>
                </a:solidFill>
              </a:rPr>
              <a:t>repe.create_deal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fund_id: UUID (required)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name: str (required)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deal_type: "acquisition"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status: "prospecting"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target_equity_usd: float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| None</a:t>
            </a:r>
          </a:p>
          <a:p>
            <a:pPr algn="l"/>
            <a:r>
              <a:rPr lang="en-US" sz="800" fontFamily="Calibri">
                <a:solidFill>
                  <a:srgbClr val="F44336"/>
                </a:solidFill>
              </a:rPr>
              <a:t>confirmed: bool = False</a:t>
            </a:r>
          </a:p>
        </p:txBody>
      </p:sp>
      <p:sp>
        <p:nvSpPr>
          <p:cNvPr id="13" name="Tool3"/>
          <p:cNvSpPr/>
          <p:nvPr/>
        </p:nvSpPr>
        <p:spPr>
          <a:xfrm>
            <a:off x="9900000" y="1100000"/>
            <a:ext cx="2000000" cy="1600000"/>
          </a:xfrm>
          <a:prstGeom prst="rect">
            <a:avLst/>
          </a:prstGeom>
          <a:solidFill>
            <a:srgbClr val="3D2200"/>
          </a:solidFill>
          <a:ln>
            <a:solidFill>
              <a:srgbClr val="FF9800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F9800"/>
                </a:solidFill>
              </a:rPr>
              <a:t>repe.create_asset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deal_id: UUID (required)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name: str (required)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asset_type: "multifamily"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address: str | None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city: str | None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units_or_sf: float | None</a:t>
            </a:r>
          </a:p>
          <a:p>
            <a:pPr algn="l"/>
            <a:r>
              <a:rPr lang="en-US" sz="800" fontFamily="Calibri">
                <a:solidFill>
                  <a:srgbClr val="F44336"/>
                </a:solidFill>
              </a:rPr>
              <a:t>confirmed: bool = False</a:t>
            </a:r>
          </a:p>
        </p:txBody>
      </p:sp>
      <p:sp>
        <p:nvSpPr>
          <p:cNvPr id="14" name="GuardsTitle"/>
          <p:cNvSpPr/>
          <p:nvPr/>
        </p:nvSpPr>
        <p:spPr>
          <a:xfrm>
            <a:off x="5700000" y="390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44336"/>
                </a:solidFill>
              </a:rPr>
              <a:t>RUNTIME GUARDS</a:t>
            </a:r>
          </a:p>
        </p:txBody>
      </p:sp>
      <p:sp>
        <p:nvSpPr>
          <p:cNvPr id="15" name="Guard1"/>
          <p:cNvSpPr/>
          <p:nvPr/>
        </p:nvSpPr>
        <p:spPr>
          <a:xfrm>
            <a:off x="5700000" y="4250000"/>
            <a:ext cx="2850000" cy="1300000"/>
          </a:xfrm>
          <a:prstGeom prst="rect">
            <a:avLst/>
          </a:prstGeom>
          <a:solidFill>
            <a:srgbClr val="0D1B2A"/>
          </a:solidFill>
          <a:ln>
            <a:solidFill>
              <a:srgbClr val="F44336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44336"/>
                </a:solidFill>
              </a:rPr>
              <a:t>STARTUP GUARD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Write tools only register if ALL schema files present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If repe.create_fund not loadable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→ not registered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System prompt rules NOT injected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Prevents '404s' failure mode</a:t>
            </a:r>
          </a:p>
        </p:txBody>
      </p:sp>
      <p:sp>
        <p:nvSpPr>
          <p:cNvPr id="16" name="Guard2"/>
          <p:cNvSpPr/>
          <p:nvPr/>
        </p:nvSpPr>
        <p:spPr>
          <a:xfrm>
            <a:off x="8650000" y="4250000"/>
            <a:ext cx="3050000" cy="1300000"/>
          </a:xfrm>
          <a:prstGeom prst="rect">
            <a:avLst/>
          </a:prstGeom>
          <a:solidFill>
            <a:srgbClr val="0D1B2A"/>
          </a:solidFill>
          <a:ln>
            <a:solidFill>
              <a:srgbClr val="F44336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900" b="1" fontFamily="Calibri">
                <a:solidFill>
                  <a:srgbClr val="F44336"/>
                </a:solidFill>
              </a:rPr>
              <a:t>CONDITIONAL PROMPT</a:t>
            </a:r>
          </a:p>
          <a:p>
            <a:pPr algn="l"/>
            <a:r>
              <a:rPr lang="en-US" sz="900" b="1" fontFamily="Calibri">
                <a:solidFill>
                  <a:srgbClr val="F44336"/>
                </a:solidFill>
              </a:rPr>
              <a:t>INJECTION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Rules only added when tools ARE in registry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_WRITE_RE routing enabled when registered</a:t>
            </a:r>
          </a:p>
          <a:p>
            <a:pPr algn="l"/>
            <a:r>
              <a:rPr lang="en-US" sz="800" fontFamily="Calibri">
                <a:solidFill>
                  <a:srgbClr val="C8D6E5"/>
                </a:solidFill>
              </a:rPr>
              <a:t>Eliminates hallucinated claims</a:t>
            </a:r>
          </a:p>
        </p:txBody>
      </p:sp>
      <p:sp>
        <p:nvSpPr>
          <p:cNvPr id="17" name="BottomBar"/>
          <p:cNvSpPr/>
          <p:nvPr/>
        </p:nvSpPr>
        <p:spPr>
          <a:xfrm>
            <a:off x="460000" y="5700000"/>
            <a:ext cx="11000000" cy="800000"/>
          </a:xfrm>
          <a:prstGeom prst="rect">
            <a:avLst/>
          </a:prstGeom>
          <a:solidFill>
            <a:srgbClr val="0D1B2A"/>
          </a:solidFill>
          <a:ln>
            <a:solidFill>
              <a:srgbClr val="1E293B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algn="l"/>
            <a:r>
              <a:rPr lang="en-US" sz="800" fontFamily="Calibri">
                <a:solidFill>
                  <a:srgbClr val="94A3B8"/>
                </a:solidFill>
              </a:rPr>
              <a:t>RETURN TYPES: unconfirmed → { status: 'pending_confirmation', summary_table: [...] } · confirmed → { fund_id: uuid, created_at: timestamp } · Database: SELECT * FROM repe_fund WHERE name = '...' verifies write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Winston Platform Architecture</dc:title>
  <dc:subject>PptxGenJS Presentation</dc:subject>
  <dc:creator>Winston Platform</dc:creator>
  <cp:lastModifiedBy>Winston Platform</cp:lastModifiedBy>
  <cp:revision>1</cp:revision>
  <dcterms:created xsi:type="dcterms:W3CDTF">2026-03-06T03:16:05Z</dcterms:created>
  <dcterms:modified xsi:type="dcterms:W3CDTF">2026-03-06T03:16:05Z</dcterms:modified>
</cp:coreProperties>
</file>